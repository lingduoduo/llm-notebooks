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3"/>
    <p:sldId id="267" r:id="rId4"/>
    <p:sldId id="257" r:id="rId5"/>
    <p:sldId id="258" r:id="rId6"/>
    <p:sldId id="259" r:id="rId7"/>
    <p:sldId id="261" r:id="rId8"/>
    <p:sldId id="262" r:id="rId9"/>
    <p:sldId id="264" r:id="rId10"/>
    <p:sldId id="265" r:id="rId11"/>
    <p:sldId id="266" r:id="rId12"/>
    <p:sldId id="263" r:id="rId13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87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667875" y="67310"/>
            <a:ext cx="2524125" cy="7715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image" Target="../media/image1.png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667875" y="0"/>
            <a:ext cx="2524125" cy="771525"/>
          </a:xfrm>
          <a:prstGeom prst="rect">
            <a:avLst/>
          </a:prstGeom>
        </p:spPr>
      </p:pic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0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tags" Target="../tags/tag69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image" Target="../media/image5.png"/><Relationship Id="rId1" Type="http://schemas.openxmlformats.org/officeDocument/2006/relationships/tags" Target="../tags/tag7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image" Target="../media/image6.png"/><Relationship Id="rId1" Type="http://schemas.openxmlformats.org/officeDocument/2006/relationships/tags" Target="../tags/tag7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6.xml"/><Relationship Id="rId2" Type="http://schemas.openxmlformats.org/officeDocument/2006/relationships/image" Target="../media/image7.png"/><Relationship Id="rId1" Type="http://schemas.openxmlformats.org/officeDocument/2006/relationships/tags" Target="../tags/tag7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2" Type="http://schemas.openxmlformats.org/officeDocument/2006/relationships/image" Target="../media/image8.png"/><Relationship Id="rId1" Type="http://schemas.openxmlformats.org/officeDocument/2006/relationships/tags" Target="../tags/tag7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image" Target="../media/image9.png"/><Relationship Id="rId1" Type="http://schemas.openxmlformats.org/officeDocument/2006/relationships/tags" Target="../tags/tag79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2.xml"/><Relationship Id="rId2" Type="http://schemas.openxmlformats.org/officeDocument/2006/relationships/image" Target="../media/image10.png"/><Relationship Id="rId1" Type="http://schemas.openxmlformats.org/officeDocument/2006/relationships/tags" Target="../tags/tag8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4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tags" Target="../tags/tag8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6.xml"/><Relationship Id="rId2" Type="http://schemas.openxmlformats.org/officeDocument/2006/relationships/image" Target="../media/image13.png"/><Relationship Id="rId1" Type="http://schemas.openxmlformats.org/officeDocument/2006/relationships/tags" Target="../tags/tag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阿里巴巴普惠体 3.0 55 Regular" panose="00020600040101010101" charset="-122"/>
                <a:ea typeface="阿里巴巴普惠体 3.0 55 Regular" panose="00020600040101010101" charset="-122"/>
              </a:rPr>
              <a:t>技术点分布与架构汇总</a:t>
            </a:r>
            <a:endParaRPr lang="zh-CN" altLang="en-US">
              <a:latin typeface="阿里巴巴普惠体 3.0 55 Regular" panose="00020600040101010101" charset="-122"/>
              <a:ea typeface="阿里巴巴普惠体 3.0 55 Regular" panose="0002060004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课程涉及的</a:t>
            </a:r>
            <a:r>
              <a:rPr lang="en-US" altLang="zh-CN"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RAG</a:t>
            </a:r>
            <a:r>
              <a:rPr lang="zh-CN" altLang="en-US"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技术</a:t>
            </a:r>
            <a:endParaRPr lang="zh-CN" altLang="en-US">
              <a:latin typeface="阿里巴巴普惠体 3.0 55 Regular L3" panose="00020600040101000101" charset="-122"/>
              <a:ea typeface="阿里巴巴普惠体 3.0 55 Regular L3" panose="00020600040101000101" charset="-122"/>
              <a:cs typeface="阿里巴巴普惠体 3.0 55 Regular L3" panose="0002060004010100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5487670" cy="4759325"/>
          </a:xfrm>
        </p:spPr>
        <p:txBody>
          <a:bodyPr/>
          <a:p>
            <a:r>
              <a:rPr lang="en-US" altLang="zh-CN"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" panose="00020600040101010101" charset="-122"/>
              </a:rPr>
              <a:t>Naive RAG</a:t>
            </a:r>
            <a:endParaRPr lang="zh-CN" altLang="en-US">
              <a:latin typeface="阿里巴巴普惠体 3.0 55 Regular L3" panose="00020600040101000101" charset="-122"/>
              <a:ea typeface="阿里巴巴普惠体 3.0 55 Regular L3" panose="00020600040101000101" charset="-122"/>
              <a:cs typeface="阿里巴巴普惠体 3.0 55 Regular" panose="00020600040101010101" charset="-122"/>
            </a:endParaRPr>
          </a:p>
          <a:p>
            <a:r>
              <a:rPr lang="en-US" altLang="zh-CN"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" panose="00020600040101010101" charset="-122"/>
              </a:rPr>
              <a:t>Advanced RAG</a:t>
            </a:r>
            <a:endParaRPr lang="zh-CN" altLang="en-US">
              <a:latin typeface="阿里巴巴普惠体 3.0 55 Regular L3" panose="00020600040101000101" charset="-122"/>
              <a:ea typeface="阿里巴巴普惠体 3.0 55 Regular L3" panose="00020600040101000101" charset="-122"/>
              <a:cs typeface="阿里巴巴普惠体 3.0 55 Regular" panose="00020600040101010101" charset="-122"/>
            </a:endParaRPr>
          </a:p>
          <a:p>
            <a:r>
              <a:rPr lang="en-US" altLang="zh-CN"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" panose="00020600040101010101" charset="-122"/>
              </a:rPr>
              <a:t>Modular RAG</a:t>
            </a:r>
            <a:endParaRPr lang="zh-CN" altLang="en-US">
              <a:latin typeface="阿里巴巴普惠体 3.0 55 Regular L3" panose="00020600040101000101" charset="-122"/>
              <a:ea typeface="阿里巴巴普惠体 3.0 55 Regular L3" panose="00020600040101000101" charset="-122"/>
              <a:cs typeface="阿里巴巴普惠体 3.0 55 Regular" panose="00020600040101010101" charset="-122"/>
            </a:endParaRPr>
          </a:p>
          <a:p>
            <a:r>
              <a:rPr lang="en-US" altLang="zh-CN"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" panose="00020600040101010101" charset="-122"/>
              </a:rPr>
              <a:t>Graph RAG</a:t>
            </a:r>
            <a:endParaRPr lang="en-US" altLang="zh-CN">
              <a:latin typeface="阿里巴巴普惠体 3.0 55 Regular L3" panose="00020600040101000101" charset="-122"/>
              <a:ea typeface="阿里巴巴普惠体 3.0 55 Regular L3" panose="00020600040101000101" charset="-122"/>
              <a:cs typeface="阿里巴巴普惠体 3.0 55 Regular" panose="00020600040101010101" charset="-122"/>
            </a:endParaRPr>
          </a:p>
          <a:p>
            <a:r>
              <a:rPr lang="en-US" altLang="zh-CN">
                <a:latin typeface="阿里巴巴普惠体 3.0 55 Regular L3" panose="00020600040101000101" charset="-122"/>
                <a:ea typeface="阿里巴巴普惠体 3.0 55 Regular L3" panose="00020600040101000101" charset="-122"/>
                <a:sym typeface="+mn-ea"/>
              </a:rPr>
              <a:t>Multimodal RAG</a:t>
            </a:r>
            <a:endParaRPr lang="en-US" altLang="zh-CN">
              <a:latin typeface="阿里巴巴普惠体 3.0 55 Regular L3" panose="00020600040101000101" charset="-122"/>
              <a:ea typeface="阿里巴巴普惠体 3.0 55 Regular L3" panose="00020600040101000101" charset="-122"/>
              <a:sym typeface="+mn-ea"/>
            </a:endParaRPr>
          </a:p>
          <a:p>
            <a:r>
              <a:rPr lang="en-US" altLang="zh-CN">
                <a:latin typeface="阿里巴巴普惠体 3.0 55 Regular L3" panose="00020600040101000101" charset="-122"/>
                <a:ea typeface="阿里巴巴普惠体 3.0 55 Regular L3" panose="00020600040101000101" charset="-122"/>
                <a:sym typeface="+mn-ea"/>
              </a:rPr>
              <a:t>CRAG</a:t>
            </a:r>
            <a:endParaRPr lang="en-US" altLang="zh-CN"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  <a:p>
            <a:endParaRPr lang="en-US" altLang="zh-CN">
              <a:latin typeface="阿里巴巴普惠体 3.0 55 Regular L3" panose="00020600040101000101" charset="-122"/>
              <a:ea typeface="阿里巴巴普惠体 3.0 55 Regular L3" panose="00020600040101000101" charset="-122"/>
              <a:cs typeface="阿里巴巴普惠体 3.0 55 Regular" panose="00020600040101010101" charset="-122"/>
            </a:endParaRPr>
          </a:p>
          <a:p>
            <a:endParaRPr lang="en-US" altLang="zh-CN">
              <a:latin typeface="阿里巴巴普惠体 3.0 55 Regular L3" panose="00020600040101000101" charset="-122"/>
              <a:ea typeface="阿里巴巴普惠体 3.0 55 Regular L3" panose="00020600040101000101" charset="-122"/>
              <a:cs typeface="阿里巴巴普惠体 3.0 55 Regular" panose="0002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395720" y="1617345"/>
            <a:ext cx="5487670" cy="475932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llamaindex</a:t>
            </a:r>
            <a:endParaRPr lang="en-US" altLang="zh-CN">
              <a:latin typeface="阿里巴巴普惠体 3.0 55 Regular L3" panose="00020600040101000101" charset="-122"/>
              <a:ea typeface="阿里巴巴普惠体 3.0 55 Regular L3" panose="00020600040101000101" charset="-122"/>
              <a:cs typeface="阿里巴巴普惠体 3.0 55 Regular L3" panose="00020600040101000101" charset="-122"/>
            </a:endParaRPr>
          </a:p>
          <a:p>
            <a:r>
              <a:rPr lang="en-US" altLang="zh-CN"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langchain</a:t>
            </a:r>
            <a:r>
              <a:rPr lang="zh-CN" altLang="en-US"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（</a:t>
            </a:r>
            <a:r>
              <a:rPr lang="en-US" altLang="zh-CN"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langgraph</a:t>
            </a:r>
            <a:r>
              <a:rPr lang="zh-CN" altLang="en-US"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、</a:t>
            </a:r>
            <a:r>
              <a:rPr lang="en-US" altLang="zh-CN"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langsmith</a:t>
            </a:r>
            <a:r>
              <a:rPr lang="zh-CN" altLang="en-US"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）</a:t>
            </a:r>
            <a:endParaRPr lang="zh-CN" altLang="en-US">
              <a:latin typeface="阿里巴巴普惠体 3.0 55 Regular L3" panose="00020600040101000101" charset="-122"/>
              <a:ea typeface="阿里巴巴普惠体 3.0 55 Regular L3" panose="00020600040101000101" charset="-122"/>
              <a:cs typeface="阿里巴巴普惠体 3.0 55 Regular L3" panose="00020600040101000101" charset="-122"/>
            </a:endParaRPr>
          </a:p>
          <a:p>
            <a:r>
              <a:rPr lang="en-US" altLang="zh-CN"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Dify</a:t>
            </a:r>
            <a:endParaRPr lang="en-US" altLang="zh-CN">
              <a:latin typeface="阿里巴巴普惠体 3.0 55 Regular L3" panose="00020600040101000101" charset="-122"/>
              <a:ea typeface="阿里巴巴普惠体 3.0 55 Regular L3" panose="00020600040101000101" charset="-122"/>
              <a:cs typeface="阿里巴巴普惠体 3.0 55 Regular L3" panose="00020600040101000101" charset="-122"/>
            </a:endParaRPr>
          </a:p>
          <a:p>
            <a:r>
              <a:rPr lang="zh-CN" altLang="en-US"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设计范式（</a:t>
            </a:r>
            <a:r>
              <a:rPr lang="en-US" altLang="zh-CN"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RAG</a:t>
            </a:r>
            <a:r>
              <a:rPr lang="zh-CN" altLang="en-US"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、</a:t>
            </a:r>
            <a:r>
              <a:rPr lang="en-US" altLang="zh-CN"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Agent</a:t>
            </a:r>
            <a:r>
              <a:rPr lang="zh-CN" altLang="en-US"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）</a:t>
            </a:r>
            <a:endParaRPr lang="zh-CN" altLang="en-US">
              <a:latin typeface="阿里巴巴普惠体 3.0 55 Regular L3" panose="00020600040101000101" charset="-122"/>
              <a:ea typeface="阿里巴巴普惠体 3.0 55 Regular L3" panose="00020600040101000101" charset="-122"/>
              <a:cs typeface="阿里巴巴普惠体 3.0 55 Regular L3" panose="00020600040101000101" charset="-122"/>
            </a:endParaRPr>
          </a:p>
          <a:p>
            <a:r>
              <a:rPr lang="zh-CN" altLang="en-US"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系统架构（模型层、服务管理）</a:t>
            </a:r>
            <a:endParaRPr lang="zh-CN" altLang="en-US">
              <a:latin typeface="阿里巴巴普惠体 3.0 55 Regular L3" panose="00020600040101000101" charset="-122"/>
              <a:ea typeface="阿里巴巴普惠体 3.0 55 Regular L3" panose="00020600040101000101" charset="-122"/>
              <a:cs typeface="阿里巴巴普惠体 3.0 55 Regular L3" panose="00020600040101000101" charset="-122"/>
            </a:endParaRPr>
          </a:p>
          <a:p>
            <a:endParaRPr lang="zh-CN" altLang="en-US">
              <a:latin typeface="阿里巴巴普惠体 3.0 55 Regular L3" panose="00020600040101000101" charset="-122"/>
              <a:ea typeface="阿里巴巴普惠体 3.0 55 Regular L3" panose="00020600040101000101" charset="-122"/>
              <a:cs typeface="阿里巴巴普惠体 3.0 55 Regular L3" panose="0002060004010100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760730" y="1672590"/>
            <a:ext cx="11240770" cy="3491865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索引阶段</a:t>
            </a:r>
            <a:endParaRPr lang="zh-CN" altLang="en-US"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62400" y="3870325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01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8330" y="3317875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02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38700" y="2636520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04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00190" y="2636520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05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8330" y="4076700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07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765425" y="3317875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06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876925" y="4953000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08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pic>
        <p:nvPicPr>
          <p:cNvPr id="15" name="图片 14" descr="107589832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7975" y="4669155"/>
            <a:ext cx="9227185" cy="102743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0500360" y="4076700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09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检索与生成</a:t>
            </a:r>
            <a:endParaRPr lang="zh-CN" altLang="en-US"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104140" y="1790065"/>
            <a:ext cx="11897360" cy="41179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806065" y="3434715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03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36895" y="3895090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10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26120" y="1313815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11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87095" y="2851150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12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921635" y="5447665"/>
            <a:ext cx="25323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13</a:t>
            </a:r>
            <a:r>
              <a:rPr lang="zh-CN" altLang="en-US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、</a:t>
            </a:r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14</a:t>
            </a:r>
            <a:r>
              <a:rPr lang="zh-CN" altLang="en-US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、</a:t>
            </a:r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15</a:t>
            </a:r>
            <a:r>
              <a:rPr lang="zh-CN" altLang="en-US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、</a:t>
            </a:r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16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  <a:cs typeface="阿里巴巴普惠体 3.0 55 Regular L3" panose="0002060004010100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326120" y="3199130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17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460490" y="1790065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18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26120" y="3659505"/>
            <a:ext cx="13881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19</a:t>
            </a:r>
            <a:r>
              <a:rPr lang="zh-CN" altLang="en-US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、</a:t>
            </a:r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20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  <a:cs typeface="阿里巴巴普惠体 3.0 55 Regular L3" panose="0002060004010100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767830" y="2849880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21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326120" y="4231005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22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767830" y="3311525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24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227310" y="2849880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23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Agentic RAG</a:t>
            </a:r>
            <a:endParaRPr lang="en-US" altLang="zh-CN"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9550"/>
            <a:ext cx="12192000" cy="50311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7865"/>
            <a:ext cx="12192000" cy="50311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6540"/>
            <a:ext cx="11677015" cy="481838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965065" y="5692140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25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27825" y="1765935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26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336415" y="4495165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27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494915" y="4161790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28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874895" y="4495165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29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Multimodal RAG</a:t>
            </a:r>
            <a:endParaRPr lang="en-US" altLang="zh-CN"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400" y="1313815"/>
            <a:ext cx="6642100" cy="50565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43910" y="4495165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30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0" y="2968625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31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0" y="5370830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32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095105" y="1741805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33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77765" y="5909945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35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CRAG</a:t>
            </a:r>
            <a:endParaRPr lang="en-US" altLang="zh-CN"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620" y="1212850"/>
            <a:ext cx="7392670" cy="540067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2082800" y="3429000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34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LangSmith</a:t>
            </a:r>
            <a:endParaRPr lang="en-US" altLang="zh-CN"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082800" y="3429000"/>
            <a:ext cx="17221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40</a:t>
            </a:r>
            <a:r>
              <a:rPr lang="zh-CN" altLang="en-US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、</a:t>
            </a:r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41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  <a:cs typeface="阿里巴巴普惠体 3.0 55 Regular L3" panose="00020600040101000101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3239135" y="1604010"/>
            <a:ext cx="5714365" cy="45694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Dify</a:t>
            </a:r>
            <a:endParaRPr lang="en-US" altLang="zh-CN"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2241550" y="608330"/>
            <a:ext cx="9540875" cy="558292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118235" y="3199130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42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305675" y="945515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43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63125" y="945515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44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2075" y="2515235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45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72765" y="4690110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46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68040" y="3326130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47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设计</a:t>
            </a:r>
            <a:r>
              <a:rPr lang="zh-CN" altLang="en-US"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范式</a:t>
            </a:r>
            <a:endParaRPr lang="zh-CN" altLang="en-US"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171450" y="2369185"/>
            <a:ext cx="4890770" cy="30613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220" y="681355"/>
            <a:ext cx="6965950" cy="549529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746885" y="5544820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48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17840" y="6176645"/>
            <a:ext cx="628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49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架构</a:t>
            </a:r>
            <a:r>
              <a:rPr lang="zh-CN" altLang="en-US">
                <a:latin typeface="阿里巴巴普惠体 3.0 55 Regular L3" panose="00020600040101000101" charset="-122"/>
                <a:ea typeface="阿里巴巴普惠体 3.0 55 Regular L3" panose="00020600040101000101" charset="-122"/>
              </a:rPr>
              <a:t>分层</a:t>
            </a:r>
            <a:endParaRPr lang="zh-CN" altLang="en-US">
              <a:latin typeface="阿里巴巴普惠体 3.0 55 Regular L3" panose="00020600040101000101" charset="-122"/>
              <a:ea typeface="阿里巴巴普惠体 3.0 55 Regular L3" panose="00020600040101000101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51685" y="1534160"/>
            <a:ext cx="7526020" cy="485013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18820" y="4883150"/>
            <a:ext cx="1606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36</a:t>
            </a:r>
            <a:r>
              <a:rPr lang="zh-CN" altLang="en-US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、</a:t>
            </a:r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37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  <a:cs typeface="阿里巴巴普惠体 3.0 55 Regular L3" panose="0002060004010100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22240" y="5343525"/>
            <a:ext cx="13373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38</a:t>
            </a:r>
            <a:r>
              <a:rPr lang="zh-CN" altLang="en-US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、</a:t>
            </a:r>
            <a:r>
              <a:rPr lang="en-US" altLang="zh-CN" sz="2400">
                <a:solidFill>
                  <a:srgbClr val="FF0000"/>
                </a:solidFill>
                <a:latin typeface="阿里巴巴普惠体 3.0 55 Regular L3" panose="00020600040101000101" charset="-122"/>
                <a:ea typeface="阿里巴巴普惠体 3.0 55 Regular L3" panose="00020600040101000101" charset="-122"/>
                <a:cs typeface="阿里巴巴普惠体 3.0 55 Regular L3" panose="00020600040101000101" charset="-122"/>
              </a:rPr>
              <a:t>39</a:t>
            </a:r>
            <a:endParaRPr lang="en-US" altLang="zh-CN" sz="2400">
              <a:solidFill>
                <a:srgbClr val="FF0000"/>
              </a:solidFill>
              <a:latin typeface="阿里巴巴普惠体 3.0 55 Regular L3" panose="00020600040101000101" charset="-122"/>
              <a:ea typeface="阿里巴巴普惠体 3.0 55 Regular L3" panose="00020600040101000101" charset="-122"/>
              <a:cs typeface="阿里巴巴普惠体 3.0 55 Regular L3" panose="0002060004010100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66536],&quot;65&quot;:[20205081]}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resource_record_key" val="{&quot;10&quot;:[21566536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</Words>
  <Application>WPS 演示</Application>
  <PresentationFormat>宽屏</PresentationFormat>
  <Paragraphs>122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阿里巴巴普惠体 3.0 55 Regular</vt:lpstr>
      <vt:lpstr>阿里巴巴普惠体 3.0 55 Regular L3</vt:lpstr>
      <vt:lpstr>微软雅黑</vt:lpstr>
      <vt:lpstr>Arial Unicode MS</vt:lpstr>
      <vt:lpstr>苹方-简</vt:lpstr>
      <vt:lpstr>Segoe Print</vt:lpstr>
      <vt:lpstr>WPS</vt:lpstr>
      <vt:lpstr>技术点分布与架构汇总</vt:lpstr>
      <vt:lpstr>课程涉及的RAG技术</vt:lpstr>
      <vt:lpstr>索引阶段</vt:lpstr>
      <vt:lpstr>检索与生成</vt:lpstr>
      <vt:lpstr>Agentic RAG</vt:lpstr>
      <vt:lpstr>Multimodal RAG</vt:lpstr>
      <vt:lpstr>CRAG</vt:lpstr>
      <vt:lpstr>LangSmith</vt:lpstr>
      <vt:lpstr>Dify</vt:lpstr>
      <vt:lpstr>设计范式</vt:lpstr>
      <vt:lpstr>架构分层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尹会生</cp:lastModifiedBy>
  <cp:revision>173</cp:revision>
  <dcterms:created xsi:type="dcterms:W3CDTF">2025-10-24T18:44:00Z</dcterms:created>
  <dcterms:modified xsi:type="dcterms:W3CDTF">2025-10-25T15:41:40Z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5C8C3428C7F10F014CBBFB68C79286C4_41</vt:lpwstr>
  </property>
</Properties>
</file>